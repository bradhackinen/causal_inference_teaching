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66" r:id="rId3"/>
    <p:sldId id="273" r:id="rId4"/>
    <p:sldId id="272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3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FD01-5DC0-43AC-BFEC-F900F17A4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F1EF5-ACEF-450F-A6E5-2AF4C9037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7DD1D-D8E2-481C-8C75-98DC4CA3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481CB-5E57-442C-9CD5-33C09A47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6B9A5-4E04-41D7-884B-839B470B8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345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A58B-E960-469A-AEAC-622FC1B21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E852F-4B98-439C-AA6C-E5BAE4366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6A668-0E85-4E41-A0C8-08F0AE39D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C097C-FA70-4554-9CED-90766D9E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49C3B-4AFB-4958-82B4-AD709BE55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415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ECFA-DB10-416F-84B9-4258D679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096A3-4E37-4D00-A8F7-6FA3E90D1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4DDA7-6FB4-410A-A61F-6E1645B4D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F0122-3D8C-409F-B783-99414725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8BC7E-1ED2-4C79-8B86-13D7C04F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046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16B9-36EE-4278-87D7-2F7EE39E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D5E0A-85F8-446F-85EE-CE2F43359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C1B7D-8E3B-4F73-9D56-62911422F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6AFCA-6124-424E-8D37-1CEED8C6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8FAAC-14B2-40B8-8555-12E29CED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79F12-1AC3-48D9-805E-808839F0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563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0D1C-64B1-4F59-95B8-8F5727483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5B0C7-BEE1-419F-A2FA-43F9DBD13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F08EC-BA1A-49A2-A5E7-DA4311359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21ECC0-D4CF-4706-BC74-C4D3155FD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6971B-6CC1-4027-9B1B-C16EF2A71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67878-1299-438C-BBBB-7BF043B6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AFAC19-7078-4396-8137-8351B770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7BA33-0664-4F45-AC11-BD8F5E2C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104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4E23-BD30-4702-BB1A-EA70E433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9BBF6-8302-42D9-AAE3-50A1926E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A05C5-6097-4DBB-9FEA-1B3DCE83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C062F-E54D-43D5-939A-B51756D5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1085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D1AF56-F6E9-4406-BD0E-510BA883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5FAA9-9985-47D4-86CA-47CB74F7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BF8BE-AE78-41D5-9B9C-0C1CE7C9D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707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0388-4687-4607-9660-7F151D887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6C3BA-7909-45A2-9674-A8542DD11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FD5EE-72E1-43D6-8A0D-9F3955E6A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614F9-5BFD-40E0-BD14-E1768A871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3F83D-5EA5-4EF6-9214-8FFA226DF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0F0B5-CB41-4286-AF18-2758CCD9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5799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5686-D498-43C4-B642-5DE8ECAE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0BD57-2555-4373-86EA-FA5373EA5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8E58C-DA51-4B19-9D30-4E9121CFA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BF186-29F5-40A4-9FF4-8477F288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CF3B6-8A8C-4560-BEAC-E28E11A8D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302FE-3F66-4BD6-84CC-B91B94D6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332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1ED36-5261-4191-961E-6AE052ED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CF5B9-8B1B-4263-9BFB-E88950DD2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F72A6-E973-48E5-B05A-AC2F73EA9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336AB-0BAC-41DE-9999-0357658E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AEDEE-FB58-4118-A713-8B74D7CC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997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EDD484-F12B-4148-B44A-F57DCC285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6F9C5-7D4A-4513-9160-039082E88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96738-9001-4CA2-AB17-3520D2E5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8CD99-CE32-4010-BADF-1608D95A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9B8B8-8347-4B6D-87F7-5D43CC83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485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325669-C2AD-47C3-A8C8-42199EF34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3C6E8-9A29-452B-A122-01A053628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89F35-768B-44E4-93A2-12D310779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2F925-13B8-4F55-8CD8-535D20C9B84D}" type="datetimeFigureOut">
              <a:rPr lang="en-CA" smtClean="0"/>
              <a:t>2025-09-24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8E2EB-8DC4-46B2-85DD-9B381229C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7D381-6D51-4B50-B185-A4CC844CA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B4F48-79F2-4010-8CAE-A8C2D45EEE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37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67B4-2CA5-43D4-9620-15CE12362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5400" dirty="0"/>
              <a:t>Applying the Backdoor Criterion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B5F8B-C887-4088-A558-A281EFF0F4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CA" i="1" dirty="0"/>
          </a:p>
          <a:p>
            <a:r>
              <a:rPr lang="en-CA" dirty="0"/>
              <a:t>BUS 4656/9911</a:t>
            </a:r>
          </a:p>
          <a:p>
            <a:r>
              <a:rPr lang="en-CA" dirty="0"/>
              <a:t>Fall 2025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8844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E7A3-E0F6-426B-93E1-056CE5A2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70138-6D7B-4544-9561-6F59975B5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407"/>
            <a:ext cx="10515600" cy="465855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2400" i="1" dirty="0"/>
              <a:t>For each of the following DAGs: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CA" dirty="0"/>
              <a:t>Identify all backdoor paths for the causal effect of D on </a:t>
            </a:r>
            <a:r>
              <a:rPr lang="en-CA" dirty="0">
                <a:sym typeface="Wingdings" panose="05000000000000000000" pitchFamily="2" charset="2"/>
              </a:rPr>
              <a:t>Y</a:t>
            </a:r>
          </a:p>
          <a:p>
            <a:pPr lvl="1">
              <a:lnSpc>
                <a:spcPct val="100000"/>
              </a:lnSpc>
            </a:pPr>
            <a:r>
              <a:rPr lang="en-CA" dirty="0"/>
              <a:t>A backdoor path is any path from D to Y with an arrow into D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CA" dirty="0"/>
              <a:t>Label each path as “open” or “closed”</a:t>
            </a:r>
          </a:p>
          <a:p>
            <a:pPr lvl="1">
              <a:lnSpc>
                <a:spcPct val="100000"/>
              </a:lnSpc>
            </a:pPr>
            <a:r>
              <a:rPr lang="en-CA" dirty="0"/>
              <a:t>Backdoor paths are </a:t>
            </a:r>
            <a:r>
              <a:rPr lang="en-CA" i="1" dirty="0"/>
              <a:t>open</a:t>
            </a:r>
            <a:r>
              <a:rPr lang="en-CA" dirty="0"/>
              <a:t> unless they contain a collider, in which case they are </a:t>
            </a:r>
            <a:r>
              <a:rPr lang="en-CA" i="1" dirty="0"/>
              <a:t>closed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CA" dirty="0"/>
              <a:t>Identify all valid adjustment sets that identify the effect of D on Y</a:t>
            </a:r>
          </a:p>
          <a:p>
            <a:pPr lvl="1">
              <a:lnSpc>
                <a:spcPct val="100000"/>
              </a:lnSpc>
            </a:pPr>
            <a:r>
              <a:rPr lang="en-CA" dirty="0"/>
              <a:t>A valid adjustment set cannot contain any descendants of D</a:t>
            </a:r>
          </a:p>
          <a:p>
            <a:pPr lvl="1">
              <a:lnSpc>
                <a:spcPct val="100000"/>
              </a:lnSpc>
            </a:pPr>
            <a:r>
              <a:rPr lang="en-CA" dirty="0"/>
              <a:t>Adjusting for variable closes all paths through that variable, unless the variable is a collider, in which case it opens the paths.</a:t>
            </a:r>
          </a:p>
          <a:p>
            <a:pPr lvl="1">
              <a:lnSpc>
                <a:spcPct val="100000"/>
              </a:lnSpc>
            </a:pPr>
            <a:r>
              <a:rPr lang="en-CA" dirty="0"/>
              <a:t>A valid adjustment set blocks all open paths without opening any closed paths</a:t>
            </a:r>
          </a:p>
        </p:txBody>
      </p:sp>
    </p:spTree>
    <p:extLst>
      <p:ext uri="{BB962C8B-B14F-4D97-AF65-F5344CB8AC3E}">
        <p14:creationId xmlns:p14="http://schemas.microsoft.com/office/powerpoint/2010/main" val="3980669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3F9B-D8C1-4155-806C-721811FA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2413061" cy="947956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/>
              <a:t>Example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2BD2D-8617-4B61-B3E0-5281B2E4C015}"/>
              </a:ext>
            </a:extLst>
          </p:cNvPr>
          <p:cNvSpPr txBox="1"/>
          <p:nvPr/>
        </p:nvSpPr>
        <p:spPr>
          <a:xfrm>
            <a:off x="6619938" y="289313"/>
            <a:ext cx="416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Backdoor Paths: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05A46-83EC-40B4-87B5-0E40091ADEA2}"/>
              </a:ext>
            </a:extLst>
          </p:cNvPr>
          <p:cNvSpPr txBox="1"/>
          <p:nvPr/>
        </p:nvSpPr>
        <p:spPr>
          <a:xfrm>
            <a:off x="6619938" y="3946472"/>
            <a:ext cx="416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Adjustment Sets: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EB71-7EE0-4474-B999-B932843ADB80}"/>
              </a:ext>
            </a:extLst>
          </p:cNvPr>
          <p:cNvSpPr/>
          <p:nvPr/>
        </p:nvSpPr>
        <p:spPr>
          <a:xfrm>
            <a:off x="6745772" y="658645"/>
            <a:ext cx="4764189" cy="2782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CA" sz="2800" dirty="0">
                <a:sym typeface="Wingdings" panose="05000000000000000000" pitchFamily="2" charset="2"/>
              </a:rPr>
              <a:t>DXZY (open)</a:t>
            </a:r>
          </a:p>
          <a:p>
            <a:r>
              <a:rPr lang="en-CA" sz="2800" dirty="0">
                <a:sym typeface="Wingdings" panose="05000000000000000000" pitchFamily="2" charset="2"/>
              </a:rPr>
              <a:t>DXY (open)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DA6C42-6C37-4C0C-A5E4-104FC5110DDD}"/>
              </a:ext>
            </a:extLst>
          </p:cNvPr>
          <p:cNvSpPr/>
          <p:nvPr/>
        </p:nvSpPr>
        <p:spPr>
          <a:xfrm>
            <a:off x="6745771" y="4315804"/>
            <a:ext cx="4764189" cy="1883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CA" sz="2800" dirty="0"/>
              <a:t>{</a:t>
            </a:r>
            <a:r>
              <a:rPr lang="en-CA" sz="2800"/>
              <a:t>X}</a:t>
            </a:r>
            <a:endParaRPr lang="en-CA" sz="2800" dirty="0"/>
          </a:p>
          <a:p>
            <a:r>
              <a:rPr lang="en-CA" sz="2800" dirty="0"/>
              <a:t>{X,Z}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A1DB07C-0EA9-426C-A61C-F972FD980C1E}"/>
              </a:ext>
            </a:extLst>
          </p:cNvPr>
          <p:cNvGrpSpPr/>
          <p:nvPr/>
        </p:nvGrpSpPr>
        <p:grpSpPr>
          <a:xfrm>
            <a:off x="1403158" y="1872421"/>
            <a:ext cx="3432040" cy="3783144"/>
            <a:chOff x="4295950" y="1370469"/>
            <a:chExt cx="3723172" cy="279682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9E647E-616D-4AA4-BDE0-F656B1724E34}"/>
                </a:ext>
              </a:extLst>
            </p:cNvPr>
            <p:cNvSpPr txBox="1"/>
            <p:nvPr/>
          </p:nvSpPr>
          <p:spPr>
            <a:xfrm>
              <a:off x="4295950" y="3351928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8A9266E-C4B8-4444-B418-7E0EEDE993B5}"/>
                </a:ext>
              </a:extLst>
            </p:cNvPr>
            <p:cNvSpPr txBox="1"/>
            <p:nvPr/>
          </p:nvSpPr>
          <p:spPr>
            <a:xfrm>
              <a:off x="4295950" y="1370469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8B8F8B5-DF64-4A8A-98A4-E19B3364E280}"/>
                </a:ext>
              </a:extLst>
            </p:cNvPr>
            <p:cNvSpPr txBox="1"/>
            <p:nvPr/>
          </p:nvSpPr>
          <p:spPr>
            <a:xfrm>
              <a:off x="7464162" y="3459411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EB2F9E8-64D4-474C-A9D4-198D0D39FFF8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>
              <a:off x="4573430" y="2078355"/>
              <a:ext cx="0" cy="12735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8AEA3D5-3338-4FB7-8BC9-2FFE1165A6D1}"/>
                </a:ext>
              </a:extLst>
            </p:cNvPr>
            <p:cNvCxnSpPr>
              <a:cxnSpLocks/>
              <a:stCxn id="25" idx="2"/>
              <a:endCxn id="57" idx="0"/>
            </p:cNvCxnSpPr>
            <p:nvPr/>
          </p:nvCxnSpPr>
          <p:spPr>
            <a:xfrm>
              <a:off x="7727247" y="1893800"/>
              <a:ext cx="14396" cy="156561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380A189-8047-4046-9BE5-2D966C0C7AE2}"/>
                </a:ext>
              </a:extLst>
            </p:cNvPr>
            <p:cNvCxnSpPr>
              <a:cxnSpLocks/>
            </p:cNvCxnSpPr>
            <p:nvPr/>
          </p:nvCxnSpPr>
          <p:spPr>
            <a:xfrm>
              <a:off x="5026295" y="3759200"/>
              <a:ext cx="233970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3F8723A-7CED-4AB2-BC21-A04DE0E67D63}"/>
              </a:ext>
            </a:extLst>
          </p:cNvPr>
          <p:cNvCxnSpPr>
            <a:cxnSpLocks/>
          </p:cNvCxnSpPr>
          <p:nvPr/>
        </p:nvCxnSpPr>
        <p:spPr>
          <a:xfrm>
            <a:off x="2035709" y="2186750"/>
            <a:ext cx="21567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5861DCA-1C8E-40C5-8C8A-4DB57F6012EC}"/>
              </a:ext>
            </a:extLst>
          </p:cNvPr>
          <p:cNvSpPr txBox="1"/>
          <p:nvPr/>
        </p:nvSpPr>
        <p:spPr>
          <a:xfrm>
            <a:off x="4310363" y="1872421"/>
            <a:ext cx="511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9EE2310-BB4F-453B-9204-7273B9CC6394}"/>
              </a:ext>
            </a:extLst>
          </p:cNvPr>
          <p:cNvCxnSpPr>
            <a:cxnSpLocks/>
          </p:cNvCxnSpPr>
          <p:nvPr/>
        </p:nvCxnSpPr>
        <p:spPr>
          <a:xfrm>
            <a:off x="1958821" y="2580307"/>
            <a:ext cx="2307446" cy="211773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281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3F9B-D8C1-4155-806C-721811FA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2413061" cy="947956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/>
              <a:t>Example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2BD2D-8617-4B61-B3E0-5281B2E4C015}"/>
              </a:ext>
            </a:extLst>
          </p:cNvPr>
          <p:cNvSpPr txBox="1"/>
          <p:nvPr/>
        </p:nvSpPr>
        <p:spPr>
          <a:xfrm>
            <a:off x="6619938" y="289313"/>
            <a:ext cx="416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Backdoor Paths: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05A46-83EC-40B4-87B5-0E40091ADEA2}"/>
              </a:ext>
            </a:extLst>
          </p:cNvPr>
          <p:cNvSpPr txBox="1"/>
          <p:nvPr/>
        </p:nvSpPr>
        <p:spPr>
          <a:xfrm>
            <a:off x="6619938" y="3946472"/>
            <a:ext cx="416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Adjustment Sets: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EB71-7EE0-4474-B999-B932843ADB80}"/>
              </a:ext>
            </a:extLst>
          </p:cNvPr>
          <p:cNvSpPr/>
          <p:nvPr/>
        </p:nvSpPr>
        <p:spPr>
          <a:xfrm>
            <a:off x="6745772" y="658645"/>
            <a:ext cx="4764189" cy="2782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CA" sz="2800" dirty="0">
                <a:sym typeface="Wingdings" panose="05000000000000000000" pitchFamily="2" charset="2"/>
              </a:rPr>
              <a:t>DXZY (closed)</a:t>
            </a:r>
          </a:p>
          <a:p>
            <a:r>
              <a:rPr lang="en-CA" sz="2800" dirty="0">
                <a:sym typeface="Wingdings" panose="05000000000000000000" pitchFamily="2" charset="2"/>
              </a:rPr>
              <a:t>DXY (open)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DA6C42-6C37-4C0C-A5E4-104FC5110DDD}"/>
              </a:ext>
            </a:extLst>
          </p:cNvPr>
          <p:cNvSpPr/>
          <p:nvPr/>
        </p:nvSpPr>
        <p:spPr>
          <a:xfrm>
            <a:off x="6745771" y="4315804"/>
            <a:ext cx="4764189" cy="1883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CA" sz="2800" dirty="0"/>
              <a:t>{X}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A1DB07C-0EA9-426C-A61C-F972FD980C1E}"/>
              </a:ext>
            </a:extLst>
          </p:cNvPr>
          <p:cNvGrpSpPr/>
          <p:nvPr/>
        </p:nvGrpSpPr>
        <p:grpSpPr>
          <a:xfrm>
            <a:off x="1403158" y="1872421"/>
            <a:ext cx="3432040" cy="3783144"/>
            <a:chOff x="4295950" y="1370469"/>
            <a:chExt cx="3723172" cy="279682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9E647E-616D-4AA4-BDE0-F656B1724E34}"/>
                </a:ext>
              </a:extLst>
            </p:cNvPr>
            <p:cNvSpPr txBox="1"/>
            <p:nvPr/>
          </p:nvSpPr>
          <p:spPr>
            <a:xfrm>
              <a:off x="4295950" y="3351928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8A9266E-C4B8-4444-B418-7E0EEDE993B5}"/>
                </a:ext>
              </a:extLst>
            </p:cNvPr>
            <p:cNvSpPr txBox="1"/>
            <p:nvPr/>
          </p:nvSpPr>
          <p:spPr>
            <a:xfrm>
              <a:off x="4295950" y="1370469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8B8F8B5-DF64-4A8A-98A4-E19B3364E280}"/>
                </a:ext>
              </a:extLst>
            </p:cNvPr>
            <p:cNvSpPr txBox="1"/>
            <p:nvPr/>
          </p:nvSpPr>
          <p:spPr>
            <a:xfrm>
              <a:off x="7464162" y="3459411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EB2F9E8-64D4-474C-A9D4-198D0D39FFF8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>
              <a:off x="4573430" y="2078355"/>
              <a:ext cx="0" cy="12735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8AEA3D5-3338-4FB7-8BC9-2FFE1165A6D1}"/>
                </a:ext>
              </a:extLst>
            </p:cNvPr>
            <p:cNvCxnSpPr>
              <a:cxnSpLocks/>
              <a:endCxn id="25" idx="2"/>
            </p:cNvCxnSpPr>
            <p:nvPr/>
          </p:nvCxnSpPr>
          <p:spPr>
            <a:xfrm flipV="1">
              <a:off x="7741642" y="1893800"/>
              <a:ext cx="0" cy="15096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380A189-8047-4046-9BE5-2D966C0C7AE2}"/>
                </a:ext>
              </a:extLst>
            </p:cNvPr>
            <p:cNvCxnSpPr>
              <a:cxnSpLocks/>
            </p:cNvCxnSpPr>
            <p:nvPr/>
          </p:nvCxnSpPr>
          <p:spPr>
            <a:xfrm>
              <a:off x="5026295" y="3759200"/>
              <a:ext cx="233970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3F8723A-7CED-4AB2-BC21-A04DE0E67D63}"/>
              </a:ext>
            </a:extLst>
          </p:cNvPr>
          <p:cNvCxnSpPr>
            <a:cxnSpLocks/>
          </p:cNvCxnSpPr>
          <p:nvPr/>
        </p:nvCxnSpPr>
        <p:spPr>
          <a:xfrm>
            <a:off x="2035709" y="2186750"/>
            <a:ext cx="21567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5861DCA-1C8E-40C5-8C8A-4DB57F6012EC}"/>
              </a:ext>
            </a:extLst>
          </p:cNvPr>
          <p:cNvSpPr txBox="1"/>
          <p:nvPr/>
        </p:nvSpPr>
        <p:spPr>
          <a:xfrm>
            <a:off x="4323632" y="1872421"/>
            <a:ext cx="511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9EE2310-BB4F-453B-9204-7273B9CC6394}"/>
              </a:ext>
            </a:extLst>
          </p:cNvPr>
          <p:cNvCxnSpPr>
            <a:cxnSpLocks/>
          </p:cNvCxnSpPr>
          <p:nvPr/>
        </p:nvCxnSpPr>
        <p:spPr>
          <a:xfrm>
            <a:off x="1958821" y="2580307"/>
            <a:ext cx="2307446" cy="211773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989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3F9B-D8C1-4155-806C-721811FA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98290" cy="947956"/>
          </a:xfrm>
        </p:spPr>
        <p:txBody>
          <a:bodyPr/>
          <a:lstStyle/>
          <a:p>
            <a:pPr algn="ctr"/>
            <a:r>
              <a:rPr lang="en-CA" dirty="0"/>
              <a:t>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2BD2D-8617-4B61-B3E0-5281B2E4C015}"/>
              </a:ext>
            </a:extLst>
          </p:cNvPr>
          <p:cNvSpPr txBox="1"/>
          <p:nvPr/>
        </p:nvSpPr>
        <p:spPr>
          <a:xfrm>
            <a:off x="6619938" y="289313"/>
            <a:ext cx="416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Backdoor Paths: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05A46-83EC-40B4-87B5-0E40091ADEA2}"/>
              </a:ext>
            </a:extLst>
          </p:cNvPr>
          <p:cNvSpPr txBox="1"/>
          <p:nvPr/>
        </p:nvSpPr>
        <p:spPr>
          <a:xfrm>
            <a:off x="6619938" y="3946472"/>
            <a:ext cx="416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Adjustment Sets: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EB71-7EE0-4474-B999-B932843ADB80}"/>
              </a:ext>
            </a:extLst>
          </p:cNvPr>
          <p:cNvSpPr/>
          <p:nvPr/>
        </p:nvSpPr>
        <p:spPr>
          <a:xfrm>
            <a:off x="6745772" y="658645"/>
            <a:ext cx="4764189" cy="2782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CA" sz="2800" dirty="0">
              <a:sym typeface="Wingdings" panose="05000000000000000000" pitchFamily="2" charset="2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DA6C42-6C37-4C0C-A5E4-104FC5110DDD}"/>
              </a:ext>
            </a:extLst>
          </p:cNvPr>
          <p:cNvSpPr/>
          <p:nvPr/>
        </p:nvSpPr>
        <p:spPr>
          <a:xfrm>
            <a:off x="6745771" y="4315804"/>
            <a:ext cx="4764189" cy="1883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CA" sz="28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A1DB07C-0EA9-426C-A61C-F972FD980C1E}"/>
              </a:ext>
            </a:extLst>
          </p:cNvPr>
          <p:cNvGrpSpPr/>
          <p:nvPr/>
        </p:nvGrpSpPr>
        <p:grpSpPr>
          <a:xfrm>
            <a:off x="314750" y="1075542"/>
            <a:ext cx="6111218" cy="4808055"/>
            <a:chOff x="1707321" y="1453046"/>
            <a:chExt cx="8808273" cy="480805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9E647E-616D-4AA4-BDE0-F656B1724E34}"/>
                </a:ext>
              </a:extLst>
            </p:cNvPr>
            <p:cNvSpPr txBox="1"/>
            <p:nvPr/>
          </p:nvSpPr>
          <p:spPr>
            <a:xfrm>
              <a:off x="4295950" y="3351928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743EAB8-B191-4633-803E-7D8F514047D3}"/>
                </a:ext>
              </a:extLst>
            </p:cNvPr>
            <p:cNvSpPr txBox="1"/>
            <p:nvPr/>
          </p:nvSpPr>
          <p:spPr>
            <a:xfrm>
              <a:off x="1707321" y="3351928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F9A42C-94B5-48A0-BBB1-01B68E253028}"/>
                </a:ext>
              </a:extLst>
            </p:cNvPr>
            <p:cNvSpPr txBox="1"/>
            <p:nvPr/>
          </p:nvSpPr>
          <p:spPr>
            <a:xfrm>
              <a:off x="9960634" y="3351928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B4E5FB0-2FDB-4682-987C-22FE89FD7D56}"/>
                </a:ext>
              </a:extLst>
            </p:cNvPr>
            <p:cNvSpPr txBox="1"/>
            <p:nvPr/>
          </p:nvSpPr>
          <p:spPr>
            <a:xfrm>
              <a:off x="5818520" y="5553215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8A9266E-C4B8-4444-B418-7E0EEDE993B5}"/>
                </a:ext>
              </a:extLst>
            </p:cNvPr>
            <p:cNvSpPr txBox="1"/>
            <p:nvPr/>
          </p:nvSpPr>
          <p:spPr>
            <a:xfrm>
              <a:off x="5818519" y="1453046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8B8F8B5-DF64-4A8A-98A4-E19B3364E280}"/>
                </a:ext>
              </a:extLst>
            </p:cNvPr>
            <p:cNvSpPr txBox="1"/>
            <p:nvPr/>
          </p:nvSpPr>
          <p:spPr>
            <a:xfrm>
              <a:off x="7566796" y="3351928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EB2F9E8-64D4-474C-A9D4-198D0D39FFF8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 flipH="1">
              <a:off x="4573430" y="2078355"/>
              <a:ext cx="1125858" cy="12735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8AEA3D5-3338-4FB7-8BC9-2FFE1165A6D1}"/>
                </a:ext>
              </a:extLst>
            </p:cNvPr>
            <p:cNvCxnSpPr>
              <a:cxnSpLocks/>
            </p:cNvCxnSpPr>
            <p:nvPr/>
          </p:nvCxnSpPr>
          <p:spPr>
            <a:xfrm>
              <a:off x="6492712" y="2078355"/>
              <a:ext cx="1074084" cy="135064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380A189-8047-4046-9BE5-2D966C0C7AE2}"/>
                </a:ext>
              </a:extLst>
            </p:cNvPr>
            <p:cNvCxnSpPr>
              <a:cxnSpLocks/>
            </p:cNvCxnSpPr>
            <p:nvPr/>
          </p:nvCxnSpPr>
          <p:spPr>
            <a:xfrm>
              <a:off x="5026295" y="3759200"/>
              <a:ext cx="233970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94214282-C1DB-4C18-ACE5-5F27BF15A23D}"/>
                </a:ext>
              </a:extLst>
            </p:cNvPr>
            <p:cNvCxnSpPr>
              <a:cxnSpLocks/>
            </p:cNvCxnSpPr>
            <p:nvPr/>
          </p:nvCxnSpPr>
          <p:spPr>
            <a:xfrm>
              <a:off x="8175889" y="3759200"/>
              <a:ext cx="155231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57AE8CF-0B96-49D8-8A7C-E46A6655871A}"/>
                </a:ext>
              </a:extLst>
            </p:cNvPr>
            <p:cNvCxnSpPr>
              <a:cxnSpLocks/>
            </p:cNvCxnSpPr>
            <p:nvPr/>
          </p:nvCxnSpPr>
          <p:spPr>
            <a:xfrm>
              <a:off x="4731678" y="4089401"/>
              <a:ext cx="967610" cy="14638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9741F61-5265-4207-98CC-056BDFA0BCC8}"/>
                </a:ext>
              </a:extLst>
            </p:cNvPr>
            <p:cNvCxnSpPr>
              <a:cxnSpLocks/>
            </p:cNvCxnSpPr>
            <p:nvPr/>
          </p:nvCxnSpPr>
          <p:spPr>
            <a:xfrm>
              <a:off x="2401021" y="3765907"/>
              <a:ext cx="1566272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6D36B2A2-80B4-47B6-8CC8-786278A08C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712" y="4159582"/>
              <a:ext cx="1074084" cy="131656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473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3F9B-D8C1-4155-806C-721811FA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98290" cy="947956"/>
          </a:xfrm>
        </p:spPr>
        <p:txBody>
          <a:bodyPr/>
          <a:lstStyle/>
          <a:p>
            <a:pPr algn="ctr"/>
            <a:r>
              <a:rPr lang="en-CA" dirty="0"/>
              <a:t>B)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46A1DC-05B8-4C44-A6DB-08F7036FA4DE}"/>
              </a:ext>
            </a:extLst>
          </p:cNvPr>
          <p:cNvGrpSpPr/>
          <p:nvPr/>
        </p:nvGrpSpPr>
        <p:grpSpPr>
          <a:xfrm>
            <a:off x="387603" y="1953644"/>
            <a:ext cx="5934900" cy="2538329"/>
            <a:chOff x="1685789" y="2464378"/>
            <a:chExt cx="9103185" cy="194060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1C1EC4-3875-4567-9B2D-18BB6EB65DF7}"/>
                </a:ext>
              </a:extLst>
            </p:cNvPr>
            <p:cNvSpPr txBox="1"/>
            <p:nvPr/>
          </p:nvSpPr>
          <p:spPr>
            <a:xfrm>
              <a:off x="4469202" y="3910847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D7E854-8A21-4775-986A-59BF9C9A2306}"/>
                </a:ext>
              </a:extLst>
            </p:cNvPr>
            <p:cNvSpPr txBox="1"/>
            <p:nvPr/>
          </p:nvSpPr>
          <p:spPr>
            <a:xfrm>
              <a:off x="3244669" y="2464378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38E368-4F8B-4165-A5AD-9A183F7F6594}"/>
                </a:ext>
              </a:extLst>
            </p:cNvPr>
            <p:cNvSpPr txBox="1"/>
            <p:nvPr/>
          </p:nvSpPr>
          <p:spPr>
            <a:xfrm>
              <a:off x="10234014" y="3910847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8AFB55-38D8-4CDA-8702-9A5F0E977536}"/>
                </a:ext>
              </a:extLst>
            </p:cNvPr>
            <p:cNvSpPr txBox="1"/>
            <p:nvPr/>
          </p:nvSpPr>
          <p:spPr>
            <a:xfrm>
              <a:off x="7350369" y="3910847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0B97DAC-166C-4D8E-BA7E-EDE2884B0FEE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90" y="3003406"/>
              <a:ext cx="801651" cy="9603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616B683-A840-42EC-B9E6-731F4F6263F2}"/>
                </a:ext>
              </a:extLst>
            </p:cNvPr>
            <p:cNvCxnSpPr>
              <a:cxnSpLocks/>
            </p:cNvCxnSpPr>
            <p:nvPr/>
          </p:nvCxnSpPr>
          <p:spPr>
            <a:xfrm>
              <a:off x="5170696" y="4153974"/>
              <a:ext cx="2033140" cy="78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84F5B99-5756-4255-9BBA-F1631C8C3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1863" y="4151641"/>
              <a:ext cx="2035614" cy="1254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916423B-A23F-4215-AB09-54AC80CBFC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20120" y="2958511"/>
              <a:ext cx="872157" cy="10052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0093D5C-60D4-4363-8597-07D069A6381E}"/>
                </a:ext>
              </a:extLst>
            </p:cNvPr>
            <p:cNvCxnSpPr>
              <a:cxnSpLocks/>
            </p:cNvCxnSpPr>
            <p:nvPr/>
          </p:nvCxnSpPr>
          <p:spPr>
            <a:xfrm>
              <a:off x="3943760" y="2711444"/>
              <a:ext cx="454195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6D4ACE-3121-4E14-9CEC-1CF2DA111C6B}"/>
                </a:ext>
              </a:extLst>
            </p:cNvPr>
            <p:cNvSpPr txBox="1"/>
            <p:nvPr/>
          </p:nvSpPr>
          <p:spPr>
            <a:xfrm>
              <a:off x="8628260" y="2464378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1D470BE-0E9A-4876-9F07-26E3181D81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155" y="2958511"/>
              <a:ext cx="1151759" cy="95233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26E78B-7B4A-451F-94E6-35DB399C5EA3}"/>
                </a:ext>
              </a:extLst>
            </p:cNvPr>
            <p:cNvSpPr txBox="1"/>
            <p:nvPr/>
          </p:nvSpPr>
          <p:spPr>
            <a:xfrm>
              <a:off x="1685789" y="3910847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D0D1AB6-D789-4E8F-86F4-46E574E385B6}"/>
                </a:ext>
              </a:extLst>
            </p:cNvPr>
            <p:cNvCxnSpPr>
              <a:cxnSpLocks/>
            </p:cNvCxnSpPr>
            <p:nvPr/>
          </p:nvCxnSpPr>
          <p:spPr>
            <a:xfrm>
              <a:off x="2387283" y="4157914"/>
              <a:ext cx="19353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F7CFCA5-9E28-4DB5-9134-B651EDF7D6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0749" y="2958511"/>
              <a:ext cx="982877" cy="95233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A2BD2D-8617-4B61-B3E0-5281B2E4C015}"/>
              </a:ext>
            </a:extLst>
          </p:cNvPr>
          <p:cNvSpPr txBox="1"/>
          <p:nvPr/>
        </p:nvSpPr>
        <p:spPr>
          <a:xfrm>
            <a:off x="6619938" y="289313"/>
            <a:ext cx="4168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Backdoor Paths: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05A46-83EC-40B4-87B5-0E40091ADEA2}"/>
              </a:ext>
            </a:extLst>
          </p:cNvPr>
          <p:cNvSpPr txBox="1"/>
          <p:nvPr/>
        </p:nvSpPr>
        <p:spPr>
          <a:xfrm>
            <a:off x="6619938" y="3946472"/>
            <a:ext cx="4168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Adjustment Sets: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EB71-7EE0-4474-B999-B932843ADB80}"/>
              </a:ext>
            </a:extLst>
          </p:cNvPr>
          <p:cNvSpPr/>
          <p:nvPr/>
        </p:nvSpPr>
        <p:spPr>
          <a:xfrm>
            <a:off x="6745772" y="658645"/>
            <a:ext cx="4764189" cy="2782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CA" sz="28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DA6C42-6C37-4C0C-A5E4-104FC5110DDD}"/>
              </a:ext>
            </a:extLst>
          </p:cNvPr>
          <p:cNvSpPr/>
          <p:nvPr/>
        </p:nvSpPr>
        <p:spPr>
          <a:xfrm>
            <a:off x="6745771" y="4315804"/>
            <a:ext cx="4764189" cy="1883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85347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3F9B-D8C1-4155-806C-721811FA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98290" cy="947956"/>
          </a:xfrm>
        </p:spPr>
        <p:txBody>
          <a:bodyPr/>
          <a:lstStyle/>
          <a:p>
            <a:pPr algn="ctr"/>
            <a:r>
              <a:rPr lang="en-CA" dirty="0"/>
              <a:t>C)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46A1DC-05B8-4C44-A6DB-08F7036FA4DE}"/>
              </a:ext>
            </a:extLst>
          </p:cNvPr>
          <p:cNvGrpSpPr/>
          <p:nvPr/>
        </p:nvGrpSpPr>
        <p:grpSpPr>
          <a:xfrm>
            <a:off x="387603" y="1953644"/>
            <a:ext cx="5934900" cy="2538329"/>
            <a:chOff x="1685789" y="2464378"/>
            <a:chExt cx="9103185" cy="194060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1C1EC4-3875-4567-9B2D-18BB6EB65DF7}"/>
                </a:ext>
              </a:extLst>
            </p:cNvPr>
            <p:cNvSpPr txBox="1"/>
            <p:nvPr/>
          </p:nvSpPr>
          <p:spPr>
            <a:xfrm>
              <a:off x="4469202" y="3910847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D7E854-8A21-4775-986A-59BF9C9A2306}"/>
                </a:ext>
              </a:extLst>
            </p:cNvPr>
            <p:cNvSpPr txBox="1"/>
            <p:nvPr/>
          </p:nvSpPr>
          <p:spPr>
            <a:xfrm>
              <a:off x="3244669" y="2464378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38E368-4F8B-4165-A5AD-9A183F7F6594}"/>
                </a:ext>
              </a:extLst>
            </p:cNvPr>
            <p:cNvSpPr txBox="1"/>
            <p:nvPr/>
          </p:nvSpPr>
          <p:spPr>
            <a:xfrm>
              <a:off x="10234014" y="3910847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8AFB55-38D8-4CDA-8702-9A5F0E977536}"/>
                </a:ext>
              </a:extLst>
            </p:cNvPr>
            <p:cNvSpPr txBox="1"/>
            <p:nvPr/>
          </p:nvSpPr>
          <p:spPr>
            <a:xfrm>
              <a:off x="7350369" y="3910847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0B97DAC-166C-4D8E-BA7E-EDE2884B0FEE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90" y="3003406"/>
              <a:ext cx="801651" cy="9603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616B683-A840-42EC-B9E6-731F4F6263F2}"/>
                </a:ext>
              </a:extLst>
            </p:cNvPr>
            <p:cNvCxnSpPr>
              <a:cxnSpLocks/>
            </p:cNvCxnSpPr>
            <p:nvPr/>
          </p:nvCxnSpPr>
          <p:spPr>
            <a:xfrm>
              <a:off x="5170696" y="4153974"/>
              <a:ext cx="2033140" cy="78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84F5B99-5756-4255-9BBA-F1631C8C3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1863" y="4151641"/>
              <a:ext cx="2035614" cy="1254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916423B-A23F-4215-AB09-54AC80CBFC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20120" y="2958511"/>
              <a:ext cx="872157" cy="10052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0093D5C-60D4-4363-8597-07D069A6381E}"/>
                </a:ext>
              </a:extLst>
            </p:cNvPr>
            <p:cNvCxnSpPr>
              <a:cxnSpLocks/>
            </p:cNvCxnSpPr>
            <p:nvPr/>
          </p:nvCxnSpPr>
          <p:spPr>
            <a:xfrm>
              <a:off x="3943760" y="2711444"/>
              <a:ext cx="454195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6D4ACE-3121-4E14-9CEC-1CF2DA111C6B}"/>
                </a:ext>
              </a:extLst>
            </p:cNvPr>
            <p:cNvSpPr txBox="1"/>
            <p:nvPr/>
          </p:nvSpPr>
          <p:spPr>
            <a:xfrm>
              <a:off x="8628260" y="2464378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1D470BE-0E9A-4876-9F07-26E3181D81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155" y="2958511"/>
              <a:ext cx="1151759" cy="95233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26E78B-7B4A-451F-94E6-35DB399C5EA3}"/>
                </a:ext>
              </a:extLst>
            </p:cNvPr>
            <p:cNvSpPr txBox="1"/>
            <p:nvPr/>
          </p:nvSpPr>
          <p:spPr>
            <a:xfrm>
              <a:off x="1685789" y="3910847"/>
              <a:ext cx="554960" cy="49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D0D1AB6-D789-4E8F-86F4-46E574E385B6}"/>
                </a:ext>
              </a:extLst>
            </p:cNvPr>
            <p:cNvCxnSpPr>
              <a:cxnSpLocks/>
            </p:cNvCxnSpPr>
            <p:nvPr/>
          </p:nvCxnSpPr>
          <p:spPr>
            <a:xfrm>
              <a:off x="2387283" y="4157914"/>
              <a:ext cx="19353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F7CFCA5-9E28-4DB5-9134-B651EDF7D6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0749" y="2958511"/>
              <a:ext cx="982877" cy="95233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A2BD2D-8617-4B61-B3E0-5281B2E4C015}"/>
              </a:ext>
            </a:extLst>
          </p:cNvPr>
          <p:cNvSpPr txBox="1"/>
          <p:nvPr/>
        </p:nvSpPr>
        <p:spPr>
          <a:xfrm>
            <a:off x="6619938" y="289313"/>
            <a:ext cx="4168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Backdoor Paths: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05A46-83EC-40B4-87B5-0E40091ADEA2}"/>
              </a:ext>
            </a:extLst>
          </p:cNvPr>
          <p:cNvSpPr txBox="1"/>
          <p:nvPr/>
        </p:nvSpPr>
        <p:spPr>
          <a:xfrm>
            <a:off x="6619938" y="3946472"/>
            <a:ext cx="4168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Adjustment Sets: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EB71-7EE0-4474-B999-B932843ADB80}"/>
              </a:ext>
            </a:extLst>
          </p:cNvPr>
          <p:cNvSpPr/>
          <p:nvPr/>
        </p:nvSpPr>
        <p:spPr>
          <a:xfrm>
            <a:off x="6745772" y="658645"/>
            <a:ext cx="4764189" cy="2782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CA" sz="2800" dirty="0">
              <a:sym typeface="Wingdings" panose="05000000000000000000" pitchFamily="2" charset="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427589-4F2A-4067-8486-88C7B6FF7B45}"/>
              </a:ext>
            </a:extLst>
          </p:cNvPr>
          <p:cNvSpPr/>
          <p:nvPr/>
        </p:nvSpPr>
        <p:spPr>
          <a:xfrm>
            <a:off x="6745771" y="4315804"/>
            <a:ext cx="4764189" cy="1883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8424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3F9B-D8C1-4155-806C-721811FA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98290" cy="947956"/>
          </a:xfrm>
        </p:spPr>
        <p:txBody>
          <a:bodyPr/>
          <a:lstStyle/>
          <a:p>
            <a:pPr algn="ctr"/>
            <a:r>
              <a:rPr lang="en-CA" dirty="0"/>
              <a:t>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2BD2D-8617-4B61-B3E0-5281B2E4C015}"/>
              </a:ext>
            </a:extLst>
          </p:cNvPr>
          <p:cNvSpPr txBox="1"/>
          <p:nvPr/>
        </p:nvSpPr>
        <p:spPr>
          <a:xfrm>
            <a:off x="6619938" y="289313"/>
            <a:ext cx="4168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Backdoor Paths: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05A46-83EC-40B4-87B5-0E40091ADEA2}"/>
              </a:ext>
            </a:extLst>
          </p:cNvPr>
          <p:cNvSpPr txBox="1"/>
          <p:nvPr/>
        </p:nvSpPr>
        <p:spPr>
          <a:xfrm>
            <a:off x="6619938" y="3946472"/>
            <a:ext cx="4168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Adjustment Sets: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7EB71-7EE0-4474-B999-B932843ADB80}"/>
              </a:ext>
            </a:extLst>
          </p:cNvPr>
          <p:cNvSpPr/>
          <p:nvPr/>
        </p:nvSpPr>
        <p:spPr>
          <a:xfrm>
            <a:off x="6745772" y="658645"/>
            <a:ext cx="4764189" cy="2782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CA" sz="28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DA6C42-6C37-4C0C-A5E4-104FC5110DDD}"/>
              </a:ext>
            </a:extLst>
          </p:cNvPr>
          <p:cNvSpPr/>
          <p:nvPr/>
        </p:nvSpPr>
        <p:spPr>
          <a:xfrm>
            <a:off x="6745771" y="4315804"/>
            <a:ext cx="4764189" cy="1883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CA" sz="28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E6B7BB-1A80-4255-8A62-E15E5F16630F}"/>
              </a:ext>
            </a:extLst>
          </p:cNvPr>
          <p:cNvGrpSpPr/>
          <p:nvPr/>
        </p:nvGrpSpPr>
        <p:grpSpPr>
          <a:xfrm>
            <a:off x="1174459" y="1363518"/>
            <a:ext cx="4210139" cy="3538229"/>
            <a:chOff x="998291" y="1573242"/>
            <a:chExt cx="4210139" cy="353822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E9652C1-6C23-4D4A-AEC2-79808CB34E2D}"/>
                </a:ext>
              </a:extLst>
            </p:cNvPr>
            <p:cNvSpPr txBox="1"/>
            <p:nvPr/>
          </p:nvSpPr>
          <p:spPr>
            <a:xfrm>
              <a:off x="998291" y="4403585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D8D31B-42E8-4F33-BCE6-151CF75A17AC}"/>
                </a:ext>
              </a:extLst>
            </p:cNvPr>
            <p:cNvSpPr txBox="1"/>
            <p:nvPr/>
          </p:nvSpPr>
          <p:spPr>
            <a:xfrm>
              <a:off x="2702541" y="3066771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EB30859-5DBC-44CC-BF52-9648E170C01D}"/>
                </a:ext>
              </a:extLst>
            </p:cNvPr>
            <p:cNvSpPr txBox="1"/>
            <p:nvPr/>
          </p:nvSpPr>
          <p:spPr>
            <a:xfrm>
              <a:off x="4653470" y="1573242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CAF606E-8856-44F7-91D4-E96F05A46AF5}"/>
                </a:ext>
              </a:extLst>
            </p:cNvPr>
            <p:cNvSpPr txBox="1"/>
            <p:nvPr/>
          </p:nvSpPr>
          <p:spPr>
            <a:xfrm>
              <a:off x="4599337" y="4403585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BD1D72B-1B87-43DB-B43B-7B0DB0608D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3479" y="2147991"/>
              <a:ext cx="1161512" cy="1052767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6622621-ECDB-47E1-A057-5132C32A50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6208" y="2219523"/>
              <a:ext cx="979670" cy="101977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22FABA0-ABBF-489B-AB79-B625172F2C14}"/>
                </a:ext>
              </a:extLst>
            </p:cNvPr>
            <p:cNvCxnSpPr>
              <a:cxnSpLocks/>
            </p:cNvCxnSpPr>
            <p:nvPr/>
          </p:nvCxnSpPr>
          <p:spPr>
            <a:xfrm>
              <a:off x="1616208" y="4810857"/>
              <a:ext cx="298312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1B43154-7CED-47E8-AD92-62857FA69988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 flipH="1">
              <a:off x="4876817" y="2275909"/>
              <a:ext cx="35654" cy="2127676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C6AC757-9CFC-4C35-AB65-F19700A4C55C}"/>
                </a:ext>
              </a:extLst>
            </p:cNvPr>
            <p:cNvCxnSpPr>
              <a:cxnSpLocks/>
              <a:stCxn id="37" idx="2"/>
              <a:endCxn id="22" idx="0"/>
            </p:cNvCxnSpPr>
            <p:nvPr/>
          </p:nvCxnSpPr>
          <p:spPr>
            <a:xfrm flipH="1">
              <a:off x="1275771" y="2281128"/>
              <a:ext cx="8824" cy="2122457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E71053-06F4-473B-85F8-F2F7B00A2D29}"/>
                </a:ext>
              </a:extLst>
            </p:cNvPr>
            <p:cNvSpPr txBox="1"/>
            <p:nvPr/>
          </p:nvSpPr>
          <p:spPr>
            <a:xfrm>
              <a:off x="1007115" y="1573242"/>
              <a:ext cx="5549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8178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3867</TotalTime>
  <Words>257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Applying the Backdoor Criterion</vt:lpstr>
      <vt:lpstr>Instructions</vt:lpstr>
      <vt:lpstr>Example 1</vt:lpstr>
      <vt:lpstr>Example 2</vt:lpstr>
      <vt:lpstr>A)</vt:lpstr>
      <vt:lpstr>B)</vt:lpstr>
      <vt:lpstr>C)</vt:lpstr>
      <vt:lpstr>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Hackinen, Brad</dc:creator>
  <cp:lastModifiedBy>Hackinen, Brad</cp:lastModifiedBy>
  <cp:revision>31</cp:revision>
  <dcterms:created xsi:type="dcterms:W3CDTF">2020-09-22T19:24:19Z</dcterms:created>
  <dcterms:modified xsi:type="dcterms:W3CDTF">2025-09-24T18:18:25Z</dcterms:modified>
</cp:coreProperties>
</file>